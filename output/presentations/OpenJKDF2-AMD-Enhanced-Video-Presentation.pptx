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229683b1347ff" /><Relationship Type="http://schemas.openxmlformats.org/officeDocument/2006/relationships/extended-properties" Target="/docProps/app.xml" Id="Ra230de0ae8e44ab6" /><Relationship Type="http://schemas.openxmlformats.org/officeDocument/2006/relationships/officeDocument" Target="/ppt/presentation.xml" Id="R5564d09daec3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d26db5a1cb44f7"/>
  </p:sldMasterIdLst>
  <p:notesMasterIdLst>
    <p:notesMasterId xmlns:r="http://schemas.openxmlformats.org/officeDocument/2006/relationships" r:id="R197e7b92dbb144e7"/>
  </p:notesMasterIdLst>
  <p:sldIdLst>
    <p:sldId xmlns:r="http://schemas.openxmlformats.org/officeDocument/2006/relationships" id="256" r:id="Rc01252a53d0445c3"/>
    <p:sldId xmlns:r="http://schemas.openxmlformats.org/officeDocument/2006/relationships" id="257" r:id="R04e7fc9aee494cec"/>
    <p:sldId xmlns:r="http://schemas.openxmlformats.org/officeDocument/2006/relationships" id="258" r:id="Rd591e66eca334379"/>
    <p:sldId xmlns:r="http://schemas.openxmlformats.org/officeDocument/2006/relationships" id="259" r:id="R79328e4625bc4e5c"/>
    <p:sldId xmlns:r="http://schemas.openxmlformats.org/officeDocument/2006/relationships" id="260" r:id="Rd2866642f4c74b31"/>
    <p:sldId xmlns:r="http://schemas.openxmlformats.org/officeDocument/2006/relationships" id="261" r:id="R97a723e20fd74feb"/>
    <p:sldId xmlns:r="http://schemas.openxmlformats.org/officeDocument/2006/relationships" id="262" r:id="R3ce5a18c94ed4baa"/>
    <p:sldId xmlns:r="http://schemas.openxmlformats.org/officeDocument/2006/relationships" id="263" r:id="Rc4e8c24fca0e4f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34923ecf6d4e70" /><Relationship Type="http://schemas.openxmlformats.org/officeDocument/2006/relationships/slideMaster" Target="/ppt/slideMasters/slideMaster1.xml" Id="R01d26db5a1cb44f7" /><Relationship Type="http://schemas.openxmlformats.org/officeDocument/2006/relationships/notesMaster" Target="/ppt/notesMasters/notesMaster1.xml" Id="R197e7b92dbb144e7" /><Relationship Type="http://schemas.openxmlformats.org/officeDocument/2006/relationships/presProps" Target="/ppt/presProps.xml" Id="Rb026f4cb7e7d4421" /><Relationship Type="http://schemas.openxmlformats.org/officeDocument/2006/relationships/tableStyles" Target="/ppt/tableStyles.xml" Id="R481a9478d8544507" /><Relationship Type="http://schemas.openxmlformats.org/officeDocument/2006/relationships/slide" Target="/ppt/slides/slide1.xml" Id="Rc01252a53d0445c3" /><Relationship Type="http://schemas.openxmlformats.org/officeDocument/2006/relationships/slide" Target="/ppt/slides/slide2.xml" Id="R04e7fc9aee494cec" /><Relationship Type="http://schemas.openxmlformats.org/officeDocument/2006/relationships/slide" Target="/ppt/slides/slide3.xml" Id="Rd591e66eca334379" /><Relationship Type="http://schemas.openxmlformats.org/officeDocument/2006/relationships/slide" Target="/ppt/slides/slide4.xml" Id="R79328e4625bc4e5c" /><Relationship Type="http://schemas.openxmlformats.org/officeDocument/2006/relationships/slide" Target="/ppt/slides/slide5.xml" Id="Rd2866642f4c74b31" /><Relationship Type="http://schemas.openxmlformats.org/officeDocument/2006/relationships/slide" Target="/ppt/slides/slide6.xml" Id="R97a723e20fd74feb" /><Relationship Type="http://schemas.openxmlformats.org/officeDocument/2006/relationships/slide" Target="/ppt/slides/slide7.xml" Id="R3ce5a18c94ed4baa" /><Relationship Type="http://schemas.openxmlformats.org/officeDocument/2006/relationships/slide" Target="/ppt/slides/slide8.xml" Id="Rc4e8c24fca0e4f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6915afac6b4a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a8f9a96114702" /><Relationship Type="http://schemas.openxmlformats.org/officeDocument/2006/relationships/notesMaster" Target="/ppt/notesMasters/notesMaster1.xml" Id="Rc320dae82e6f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32ed713d414817" /><Relationship Type="http://schemas.openxmlformats.org/officeDocument/2006/relationships/notesMaster" Target="/ppt/notesMasters/notesMaster1.xml" Id="R7ed7b0ba49b146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bdd1440b6e4849" /><Relationship Type="http://schemas.openxmlformats.org/officeDocument/2006/relationships/notesMaster" Target="/ppt/notesMasters/notesMaster1.xml" Id="Rcad8a4775ebd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e367e4bb4e48d7" /><Relationship Type="http://schemas.openxmlformats.org/officeDocument/2006/relationships/notesMaster" Target="/ppt/notesMasters/notesMaster1.xml" Id="Rfe1a059bff8445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8389b9b5c04108" /><Relationship Type="http://schemas.openxmlformats.org/officeDocument/2006/relationships/notesMaster" Target="/ppt/notesMasters/notesMaster1.xml" Id="R8532c947a97545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cab46c7558441e" /><Relationship Type="http://schemas.openxmlformats.org/officeDocument/2006/relationships/notesMaster" Target="/ppt/notesMasters/notesMaster1.xml" Id="Refcb6b792f4f4d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bf6797bf8843f0" /><Relationship Type="http://schemas.openxmlformats.org/officeDocument/2006/relationships/notesMaster" Target="/ppt/notesMasters/notesMaster1.xml" Id="R4d346c35315241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2d6282d0a04015" /><Relationship Type="http://schemas.openxmlformats.org/officeDocument/2006/relationships/notesMaster" Target="/ppt/notesMasters/notesMaster1.xml" Id="Rc1a83442f254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4a92cfc964d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c3a656d50345a3" /><Relationship Type="http://schemas.openxmlformats.org/officeDocument/2006/relationships/slideLayout" Target="/ppt/slideLayouts/slideLayout1.xml" Id="R92fe0e5606f24e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fe0e5606f24e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95db01b14ee4" /><Relationship Type="http://schemas.openxmlformats.org/officeDocument/2006/relationships/image" Target="/ppt/media/image.png" Id="R45f03759dc0645c2" /><Relationship Type="http://schemas.openxmlformats.org/officeDocument/2006/relationships/notesSlide" Target="/ppt/notesSlides/notesSlide1.xml" Id="Re7c2e117eca84d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0ff2ccda24009" /><Relationship Type="http://schemas.openxmlformats.org/officeDocument/2006/relationships/image" Target="/ppt/media/image2.png" Id="R4fc3ffccbf9c460e" /><Relationship Type="http://schemas.openxmlformats.org/officeDocument/2006/relationships/notesSlide" Target="/ppt/notesSlides/notesSlide2.xml" Id="Ra2b32668e7a944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8af085ff4263" /><Relationship Type="http://schemas.openxmlformats.org/officeDocument/2006/relationships/notesSlide" Target="/ppt/notesSlides/notesSlide3.xml" Id="Rb0f38d3a0bef47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834e18304e96" /><Relationship Type="http://schemas.openxmlformats.org/officeDocument/2006/relationships/image" Target="/ppt/media/image3.png" Id="R9856d3c373d04c68" /><Relationship Type="http://schemas.openxmlformats.org/officeDocument/2006/relationships/notesSlide" Target="/ppt/notesSlides/notesSlide4.xml" Id="Rfa3e838dc85342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ce498c4954eaa" /><Relationship Type="http://schemas.openxmlformats.org/officeDocument/2006/relationships/image" Target="/ppt/media/image4.png" Id="R3d434deab0684a96" /><Relationship Type="http://schemas.openxmlformats.org/officeDocument/2006/relationships/notesSlide" Target="/ppt/notesSlides/notesSlide5.xml" Id="Rbc4ecc0157d9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0d10e6fea4c8d" /><Relationship Type="http://schemas.openxmlformats.org/officeDocument/2006/relationships/image" Target="/ppt/media/image5.png" Id="Rd7d7762c1d924a0a" /><Relationship Type="http://schemas.openxmlformats.org/officeDocument/2006/relationships/notesSlide" Target="/ppt/notesSlides/notesSlide6.xml" Id="Rf68df348dbf14d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dafaa622e4ec8" /><Relationship Type="http://schemas.openxmlformats.org/officeDocument/2006/relationships/notesSlide" Target="/ppt/notesSlides/notesSlide7.xml" Id="R14562e0da69b46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30c051a094853" /><Relationship Type="http://schemas.openxmlformats.org/officeDocument/2006/relationships/image" Target="/ppt/media/image6.png" Id="Re85b2cda26f9431b" /><Relationship Type="http://schemas.openxmlformats.org/officeDocument/2006/relationships/notesSlide" Target="/ppt/notesSlides/notesSlide8.xml" Id="R0a63229c390c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03759dc0645c2"/>
          <a:srcRect xmlns:a="http://schemas.openxmlformats.org/drawingml/2006/main" l="26953" t="0" r="26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nel-002">
            <a:extLst xmlns:a="http://schemas.openxmlformats.org/drawingml/2006/main">
              <a:ext uri="{FF2B5EF4-FFF2-40B4-BE49-F238E27FC236}">
                <a16:creationId xmlns:a16="http://schemas.microsoft.com/office/drawing/2014/main" id="{9DDAC948-CB9C-4476-A15D-A3611505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8"/>
          </a:solidFill>
          <a:ln xmlns:a="http://schemas.openxmlformats.org/drawingml/2006/main" w="0">
            <a:solidFill>
              <a:srgbClr val="070708"/>
            </a:solidFill>
            <a:prstDash val="solid"/>
          </a:ln>
        </p:spPr>
      </p:sp>
      <p:sp>
        <p:nvSpPr>
          <p:cNvPr id="3" name="rule-003">
            <a:extLst xmlns:a="http://schemas.openxmlformats.org/drawingml/2006/main">
              <a:ext uri="{FF2B5EF4-FFF2-40B4-BE49-F238E27FC236}">
                <a16:creationId xmlns:a16="http://schemas.microsoft.com/office/drawing/2014/main" id="{072FCF53-5D8A-43F7-BD7E-BFBC5CE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4" name="rule-004">
            <a:extLst xmlns:a="http://schemas.openxmlformats.org/drawingml/2006/main">
              <a:ext uri="{FF2B5EF4-FFF2-40B4-BE49-F238E27FC236}">
                <a16:creationId xmlns:a16="http://schemas.microsoft.com/office/drawing/2014/main" id="{07BC5D73-F940-400B-A7D6-7D5E6093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60B"/>
          </a:solidFill>
          <a:ln xmlns:a="http://schemas.openxmlformats.org/drawingml/2006/main" w="0">
            <a:solidFill>
              <a:srgbClr val="C8660B"/>
            </a:solidFill>
            <a:prstDash val="solid"/>
          </a:ln>
        </p:spPr>
      </p:sp>
      <p:sp>
        <p:nvSpPr>
          <p:cNvPr id="5" name="eyebrow-005">
            <a:extLst xmlns:a="http://schemas.openxmlformats.org/drawingml/2006/main">
              <a:ext uri="{FF2B5EF4-FFF2-40B4-BE49-F238E27FC236}">
                <a16:creationId xmlns:a16="http://schemas.microsoft.com/office/drawing/2014/main" id="{2C0F814E-34B3-44D7-ACF4-EA54EDB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OPENJKDF2 AMD ENHANCED</a:t>
            </a:r>
          </a:p>
        </p:txBody>
      </p:sp>
      <p:sp>
        <p:nvSpPr>
          <p:cNvPr id="6" name="deck-title-006">
            <a:extLst xmlns:a="http://schemas.openxmlformats.org/drawingml/2006/main">
              <a:ext uri="{FF2B5EF4-FFF2-40B4-BE49-F238E27FC236}">
                <a16:creationId xmlns:a16="http://schemas.microsoft.com/office/drawing/2014/main" id="{1806CE45-CADF-4B07-8405-94FCE093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E7C5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4E7C5"/>
                </a:solidFill>
                <a:latin typeface="Georgia"/>
                <a:ea typeface="Georgia"/>
                <a:cs typeface="Georgia"/>
              </a:rPr>
              <a:t>A MODERN WINDOWS</a:t>
            </a:r>
          </a:p>
          <a:p xmlns:a="http://schemas.openxmlformats.org/drawingml/2006/main">
            <a:pPr algn="l">
              <a:defRPr sz="4050" b="1" i="0">
                <a:solidFill>
                  <a:srgbClr val="F4E7C5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4E7C5"/>
                </a:solidFill>
                <a:latin typeface="Georgia"/>
                <a:ea typeface="Georgia"/>
                <a:cs typeface="Georgia"/>
              </a:rPr>
              <a:t>EDITION FOR A</a:t>
            </a:r>
          </a:p>
          <a:p xmlns:a="http://schemas.openxmlformats.org/drawingml/2006/main">
            <a:pPr algn="l">
              <a:defRPr sz="4050" b="1" i="0">
                <a:solidFill>
                  <a:srgbClr val="F4E7C5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4E7C5"/>
                </a:solidFill>
                <a:latin typeface="Georgia"/>
                <a:ea typeface="Georgia"/>
                <a:cs typeface="Georgia"/>
              </a:rPr>
              <a:t>1997 CLASSIC</a:t>
            </a:r>
          </a:p>
        </p:txBody>
      </p:sp>
      <p:sp>
        <p:nvSpPr>
          <p:cNvPr id="7" name="subtitle-007">
            <a:extLst xmlns:a="http://schemas.openxmlformats.org/drawingml/2006/main">
              <a:ext uri="{FF2B5EF4-FFF2-40B4-BE49-F238E27FC236}">
                <a16:creationId xmlns:a16="http://schemas.microsoft.com/office/drawing/2014/main" id="{E9FE58FF-84B2-4B57-9062-A1A12ECF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542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Built on OpenJKDF2. Refined for modern controls, native borderless display, safer switching and a verified public release.</a:t>
            </a:r>
          </a:p>
        </p:txBody>
      </p:sp>
      <p:sp>
        <p:nvSpPr>
          <p:cNvPr id="8" name="duration-008">
            <a:extLst xmlns:a="http://schemas.openxmlformats.org/drawingml/2006/main">
              <a:ext uri="{FF2B5EF4-FFF2-40B4-BE49-F238E27FC236}">
                <a16:creationId xmlns:a16="http://schemas.microsoft.com/office/drawing/2014/main" id="{56AC28E0-5F5C-4A95-8728-0415C67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E3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FE36A"/>
                </a:solidFill>
                <a:latin typeface="Bahnschrift"/>
                <a:ea typeface="Bahnschrift"/>
                <a:cs typeface="Bahnschrift"/>
              </a:rPr>
              <a:t>VERSION 1.0  /  APPROXIMATELY FIVE DAYS OF CODEX-ASSISTED ENGINEERING</a:t>
            </a:r>
          </a:p>
        </p:txBody>
      </p:sp>
    </p:spTree>
    <p:extLst>
      <p:ext uri="{BB962C8B-B14F-4D97-AF65-F5344CB8AC3E}">
        <p14:creationId xmlns:p14="http://schemas.microsoft.com/office/powerpoint/2010/main" val="4955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009">
            <a:extLst xmlns:a="http://schemas.openxmlformats.org/drawingml/2006/main">
              <a:ext uri="{FF2B5EF4-FFF2-40B4-BE49-F238E27FC236}">
                <a16:creationId xmlns:a16="http://schemas.microsoft.com/office/drawing/2014/main" id="{24D79791-BD66-4F63-96B9-88A6474D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WHY THE 1997 ENGINE NEEDED A MODERN PORT</a:t>
            </a:r>
          </a:p>
        </p:txBody>
      </p:sp>
      <p:sp>
        <p:nvSpPr>
          <p:cNvPr id="2" name="rule-010">
            <a:extLst xmlns:a="http://schemas.openxmlformats.org/drawingml/2006/main">
              <a:ext uri="{FF2B5EF4-FFF2-40B4-BE49-F238E27FC236}">
                <a16:creationId xmlns:a16="http://schemas.microsoft.com/office/drawing/2014/main" id="{DDE2602E-D09E-460A-9B39-10443CC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3" name="source-011">
            <a:extLst xmlns:a="http://schemas.openxmlformats.org/drawingml/2006/main">
              <a:ext uri="{FF2B5EF4-FFF2-40B4-BE49-F238E27FC236}">
                <a16:creationId xmlns:a16="http://schemas.microsoft.com/office/drawing/2014/main" id="{7C756B63-1332-48A3-A87F-C013A0F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Source: shinyquagsire23/OpenJKDF2 README</a:t>
            </a:r>
          </a:p>
        </p:txBody>
      </p:sp>
      <p:sp>
        <p:nvSpPr>
          <p:cNvPr id="4" name="page-012">
            <a:extLst xmlns:a="http://schemas.openxmlformats.org/drawingml/2006/main">
              <a:ext uri="{FF2B5EF4-FFF2-40B4-BE49-F238E27FC236}">
                <a16:creationId xmlns:a16="http://schemas.microsoft.com/office/drawing/2014/main" id="{55A2BF76-3452-4E56-A96F-6711B253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5" name="text-013">
            <a:extLst xmlns:a="http://schemas.openxmlformats.org/drawingml/2006/main">
              <a:ext uri="{FF2B5EF4-FFF2-40B4-BE49-F238E27FC236}">
                <a16:creationId xmlns:a16="http://schemas.microsoft.com/office/drawing/2014/main" id="{E0AB0889-2C4E-42A3-8F02-24E2420F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E36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E36A"/>
                </a:solidFill>
                <a:latin typeface="Georgia"/>
                <a:ea typeface="Georgia"/>
                <a:cs typeface="Georgia"/>
              </a:rPr>
              <a:t>THE 1997 ASSUMPTIONS</a:t>
            </a:r>
          </a:p>
        </p:txBody>
      </p:sp>
      <p:sp>
        <p:nvSpPr>
          <p:cNvPr id="6" name="rule-014">
            <a:extLst xmlns:a="http://schemas.openxmlformats.org/drawingml/2006/main">
              <a:ext uri="{FF2B5EF4-FFF2-40B4-BE49-F238E27FC236}">
                <a16:creationId xmlns:a16="http://schemas.microsoft.com/office/drawing/2014/main" id="{71A96771-D0FD-4EC5-AE81-E345E206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7" name="text-015">
            <a:extLst xmlns:a="http://schemas.openxmlformats.org/drawingml/2006/main">
              <a:ext uri="{FF2B5EF4-FFF2-40B4-BE49-F238E27FC236}">
                <a16:creationId xmlns:a16="http://schemas.microsoft.com/office/drawing/2014/main" id="{BB8AAA47-0F43-4F52-B34D-C38571F2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DirectX 5-era DirectDraw and Direct3D behavior</a:t>
            </a:r>
          </a:p>
        </p:txBody>
      </p:sp>
      <p:sp>
        <p:nvSpPr>
          <p:cNvPr id="8" name="rule-016">
            <a:extLst xmlns:a="http://schemas.openxmlformats.org/drawingml/2006/main">
              <a:ext uri="{FF2B5EF4-FFF2-40B4-BE49-F238E27FC236}">
                <a16:creationId xmlns:a16="http://schemas.microsoft.com/office/drawing/2014/main" id="{007FC0FD-3445-41DA-996D-0AF13D95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9" name="text-017">
            <a:extLst xmlns:a="http://schemas.openxmlformats.org/drawingml/2006/main">
              <a:ext uri="{FF2B5EF4-FFF2-40B4-BE49-F238E27FC236}">
                <a16:creationId xmlns:a16="http://schemas.microsoft.com/office/drawing/2014/main" id="{FE8929CD-8D21-4AEE-851D-B63C69A1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16-bit colour and legacy texture formats</a:t>
            </a:r>
          </a:p>
        </p:txBody>
      </p:sp>
      <p:sp>
        <p:nvSpPr>
          <p:cNvPr id="10" name="rule-018">
            <a:extLst xmlns:a="http://schemas.openxmlformats.org/drawingml/2006/main">
              <a:ext uri="{FF2B5EF4-FFF2-40B4-BE49-F238E27FC236}">
                <a16:creationId xmlns:a16="http://schemas.microsoft.com/office/drawing/2014/main" id="{A81ABD19-FDBC-40E4-ADD2-02A35C9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11" name="text-019">
            <a:extLst xmlns:a="http://schemas.openxmlformats.org/drawingml/2006/main">
              <a:ext uri="{FF2B5EF4-FFF2-40B4-BE49-F238E27FC236}">
                <a16:creationId xmlns:a16="http://schemas.microsoft.com/office/drawing/2014/main" id="{D6E07BB6-B1E2-4D8E-B42D-2DAC69E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Old fullscreen and resolution-switching methods</a:t>
            </a:r>
          </a:p>
        </p:txBody>
      </p:sp>
      <p:sp>
        <p:nvSpPr>
          <p:cNvPr id="12" name="rule-020">
            <a:extLst xmlns:a="http://schemas.openxmlformats.org/drawingml/2006/main">
              <a:ext uri="{FF2B5EF4-FFF2-40B4-BE49-F238E27FC236}">
                <a16:creationId xmlns:a16="http://schemas.microsoft.com/office/drawing/2014/main" id="{5788A4D1-1031-40C1-B5CB-DFA5EA0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13" name="text-021">
            <a:extLst xmlns:a="http://schemas.openxmlformats.org/drawingml/2006/main">
              <a:ext uri="{FF2B5EF4-FFF2-40B4-BE49-F238E27FC236}">
                <a16:creationId xmlns:a16="http://schemas.microsoft.com/office/drawing/2014/main" id="{74781F5B-2088-40AA-AE14-C98168BC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Driver behavior modern GPUs no longer reproduce exactly</a:t>
            </a:r>
          </a:p>
        </p:txBody>
      </p:sp>
      <p:sp>
        <p:nvSpPr>
          <p:cNvPr id="14" name="rule-022">
            <a:extLst xmlns:a="http://schemas.openxmlformats.org/drawingml/2006/main">
              <a:ext uri="{FF2B5EF4-FFF2-40B4-BE49-F238E27FC236}">
                <a16:creationId xmlns:a16="http://schemas.microsoft.com/office/drawing/2014/main" id="{C3E0960E-E0D3-49E9-9DFD-ECFF70B1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15" name="text-023">
            <a:extLst xmlns:a="http://schemas.openxmlformats.org/drawingml/2006/main">
              <a:ext uri="{FF2B5EF4-FFF2-40B4-BE49-F238E27FC236}">
                <a16:creationId xmlns:a16="http://schemas.microsoft.com/office/drawing/2014/main" id="{663009CE-BA6D-446B-B9E0-BAAD45A4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Timing assumptions from 1990s hardware</a:t>
            </a:r>
          </a:p>
        </p:txBody>
      </p:sp>
      <p:sp>
        <p:nvSpPr>
          <p:cNvPr id="16" name="panel-024">
            <a:extLst xmlns:a="http://schemas.openxmlformats.org/drawingml/2006/main">
              <a:ext uri="{FF2B5EF4-FFF2-40B4-BE49-F238E27FC236}">
                <a16:creationId xmlns:a16="http://schemas.microsoft.com/office/drawing/2014/main" id="{5434CB2D-2A43-48EE-87E2-F674C679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3ffccbf9c460e"/>
          <a:stretch xmlns:a="http://schemas.openxmlformats.org/drawingml/2006/main"/>
        </p:blipFill>
        <p:spPr>
          <a:xfrm xmlns:a="http://schemas.openxmlformats.org/drawingml/2006/main">
            <a:off x="6646563" y="1476375"/>
            <a:ext cx="4556723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panel-026">
            <a:extLst xmlns:a="http://schemas.openxmlformats.org/drawingml/2006/main">
              <a:ext uri="{FF2B5EF4-FFF2-40B4-BE49-F238E27FC236}">
                <a16:creationId xmlns:a16="http://schemas.microsoft.com/office/drawing/2014/main" id="{A2BF8FB7-C930-42C7-B4BF-931F1AB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561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19050">
            <a:solidFill>
              <a:srgbClr val="FFE36A"/>
            </a:solidFill>
            <a:prstDash val="solid"/>
          </a:ln>
        </p:spPr>
      </p:sp>
      <p:sp>
        <p:nvSpPr>
          <p:cNvPr id="19" name="text-027">
            <a:extLst xmlns:a="http://schemas.openxmlformats.org/drawingml/2006/main">
              <a:ext uri="{FF2B5EF4-FFF2-40B4-BE49-F238E27FC236}">
                <a16:creationId xmlns:a16="http://schemas.microsoft.com/office/drawing/2014/main" id="{4509D04C-D3CB-4DEE-B3EE-2124066C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E36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E36A"/>
                </a:solidFill>
                <a:latin typeface="Georgia"/>
                <a:ea typeface="Georgia"/>
                <a:cs typeface="Georgia"/>
              </a:rPr>
              <a:t>UPSTREAM OPENJKDF2 SOLVED THE CORE PORT</a:t>
            </a:r>
          </a:p>
        </p:txBody>
      </p:sp>
      <p:sp>
        <p:nvSpPr>
          <p:cNvPr id="20" name="text-028">
            <a:extLst xmlns:a="http://schemas.openxmlformats.org/drawingml/2006/main">
              <a:ext uri="{FF2B5EF4-FFF2-40B4-BE49-F238E27FC236}">
                <a16:creationId xmlns:a16="http://schemas.microsoft.com/office/drawing/2014/main" id="{8A052414-DC9D-4ACD-B3C3-EE9D359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3405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It replaced the old DirectX stack with SDL2, OpenAL and OpenGL 3.3 across modern platforms.</a:t>
            </a:r>
          </a:p>
        </p:txBody>
      </p:sp>
    </p:spTree>
    <p:extLst>
      <p:ext uri="{BB962C8B-B14F-4D97-AF65-F5344CB8AC3E}">
        <p14:creationId xmlns:p14="http://schemas.microsoft.com/office/powerpoint/2010/main" val="939537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title-029">
            <a:extLst xmlns:a="http://schemas.openxmlformats.org/drawingml/2006/main">
              <a:ext uri="{FF2B5EF4-FFF2-40B4-BE49-F238E27FC236}">
                <a16:creationId xmlns:a16="http://schemas.microsoft.com/office/drawing/2014/main" id="{DF0D160A-B95B-41FD-8D13-B59B953F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THE FORK ADDS A WINDOWS 11 PRODUCT LAYER</a:t>
            </a:r>
          </a:p>
        </p:txBody>
      </p:sp>
      <p:sp>
        <p:nvSpPr>
          <p:cNvPr id="2" name="rule-030">
            <a:extLst xmlns:a="http://schemas.openxmlformats.org/drawingml/2006/main">
              <a:ext uri="{FF2B5EF4-FFF2-40B4-BE49-F238E27FC236}">
                <a16:creationId xmlns:a16="http://schemas.microsoft.com/office/drawing/2014/main" id="{AA5ED473-8306-41DF-8F8E-77B32899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3" name="source-031">
            <a:extLst xmlns:a="http://schemas.openxmlformats.org/drawingml/2006/main">
              <a:ext uri="{FF2B5EF4-FFF2-40B4-BE49-F238E27FC236}">
                <a16:creationId xmlns:a16="http://schemas.microsoft.com/office/drawing/2014/main" id="{00AA08F2-4E7A-4D85-BEFE-7FE6745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Sources: upstream OpenJKDF2 README; OpenJKDF2 AMD Enhanced README and release 1.0</a:t>
            </a:r>
          </a:p>
        </p:txBody>
      </p:sp>
      <p:sp>
        <p:nvSpPr>
          <p:cNvPr id="4" name="page-032">
            <a:extLst xmlns:a="http://schemas.openxmlformats.org/drawingml/2006/main">
              <a:ext uri="{FF2B5EF4-FFF2-40B4-BE49-F238E27FC236}">
                <a16:creationId xmlns:a16="http://schemas.microsoft.com/office/drawing/2014/main" id="{5EBF7738-AD69-4319-87CD-4CDCFC05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5" name="text-033">
            <a:extLst xmlns:a="http://schemas.openxmlformats.org/drawingml/2006/main">
              <a:ext uri="{FF2B5EF4-FFF2-40B4-BE49-F238E27FC236}">
                <a16:creationId xmlns:a16="http://schemas.microsoft.com/office/drawing/2014/main" id="{EC7D4175-A92D-4C94-AF1B-BED8118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Upstream provides the engine foundation. This release concentrates on modern defaults, recovery, packaging and evidence.</a:t>
            </a:r>
          </a:p>
        </p:txBody>
      </p:sp>
      <p:sp>
        <p:nvSpPr>
          <p:cNvPr id="6" name="panel-034">
            <a:extLst xmlns:a="http://schemas.openxmlformats.org/drawingml/2006/main">
              <a:ext uri="{FF2B5EF4-FFF2-40B4-BE49-F238E27FC236}">
                <a16:creationId xmlns:a16="http://schemas.microsoft.com/office/drawing/2014/main" id="{5F2BDE7F-2584-479A-A1D3-8F708A8E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60B"/>
          </a:solidFill>
          <a:ln xmlns:a="http://schemas.openxmlformats.org/drawingml/2006/main" w="9525">
            <a:solidFill>
              <a:srgbClr val="FFE36A"/>
            </a:solidFill>
            <a:prstDash val="solid"/>
          </a:ln>
        </p:spPr>
      </p:sp>
      <p:sp>
        <p:nvSpPr>
          <p:cNvPr id="7" name="panel-035">
            <a:extLst xmlns:a="http://schemas.openxmlformats.org/drawingml/2006/main">
              <a:ext uri="{FF2B5EF4-FFF2-40B4-BE49-F238E27FC236}">
                <a16:creationId xmlns:a16="http://schemas.microsoft.com/office/drawing/2014/main" id="{1CEEED1A-2B32-4811-8F44-8C5DEF94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7219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60B"/>
          </a:solidFill>
          <a:ln xmlns:a="http://schemas.openxmlformats.org/drawingml/2006/main" w="9525">
            <a:solidFill>
              <a:srgbClr val="FFE36A"/>
            </a:solidFill>
            <a:prstDash val="solid"/>
          </a:ln>
        </p:spPr>
      </p:sp>
      <p:sp>
        <p:nvSpPr>
          <p:cNvPr id="8" name="text-036">
            <a:extLst xmlns:a="http://schemas.openxmlformats.org/drawingml/2006/main">
              <a:ext uri="{FF2B5EF4-FFF2-40B4-BE49-F238E27FC236}">
                <a16:creationId xmlns:a16="http://schemas.microsoft.com/office/drawing/2014/main" id="{7A60D6F8-6B30-400B-AD54-37BC2714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8E7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8E7"/>
                </a:solidFill>
                <a:latin typeface="Georgia"/>
                <a:ea typeface="Georgia"/>
                <a:cs typeface="Georgia"/>
              </a:rPr>
              <a:t>UPSTREAM OPENJKDF2</a:t>
            </a:r>
          </a:p>
        </p:txBody>
      </p:sp>
      <p:sp>
        <p:nvSpPr>
          <p:cNvPr id="9" name="text-037">
            <a:extLst xmlns:a="http://schemas.openxmlformats.org/drawingml/2006/main">
              <a:ext uri="{FF2B5EF4-FFF2-40B4-BE49-F238E27FC236}">
                <a16:creationId xmlns:a16="http://schemas.microsoft.com/office/drawing/2014/main" id="{E2817052-8EDF-4D5A-A184-AC709DB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8E7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8E7"/>
                </a:solidFill>
                <a:latin typeface="Georgia"/>
                <a:ea typeface="Georgia"/>
                <a:cs typeface="Georgia"/>
              </a:rPr>
              <a:t>AMD ENHANCED FORK</a:t>
            </a:r>
          </a:p>
        </p:txBody>
      </p:sp>
      <p:sp>
        <p:nvSpPr>
          <p:cNvPr id="10" name="panel-038">
            <a:extLst xmlns:a="http://schemas.openxmlformats.org/drawingml/2006/main">
              <a:ext uri="{FF2B5EF4-FFF2-40B4-BE49-F238E27FC236}">
                <a16:creationId xmlns:a16="http://schemas.microsoft.com/office/drawing/2014/main" id="{137003CD-7884-488D-9B0F-CF69689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11" name="panel-039">
            <a:extLst xmlns:a="http://schemas.openxmlformats.org/drawingml/2006/main">
              <a:ext uri="{FF2B5EF4-FFF2-40B4-BE49-F238E27FC236}">
                <a16:creationId xmlns:a16="http://schemas.microsoft.com/office/drawing/2014/main" id="{AEECF0A9-5BD2-4030-8A1D-AA4C48D5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12" name="text-040">
            <a:extLst xmlns:a="http://schemas.openxmlformats.org/drawingml/2006/main">
              <a:ext uri="{FF2B5EF4-FFF2-40B4-BE49-F238E27FC236}">
                <a16:creationId xmlns:a16="http://schemas.microsoft.com/office/drawing/2014/main" id="{369B7BCA-4BF7-4302-87C5-4F3A912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050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General-purpose, cross-platform engine</a:t>
            </a:r>
          </a:p>
        </p:txBody>
      </p:sp>
      <p:sp>
        <p:nvSpPr>
          <p:cNvPr id="13" name="text-041">
            <a:extLst xmlns:a="http://schemas.openxmlformats.org/drawingml/2006/main">
              <a:ext uri="{FF2B5EF4-FFF2-40B4-BE49-F238E27FC236}">
                <a16:creationId xmlns:a16="http://schemas.microsoft.com/office/drawing/2014/main" id="{2938136A-3AF2-4281-B69F-9F40538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050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Opinionated Windows 11 gaming package</a:t>
            </a:r>
          </a:p>
        </p:txBody>
      </p:sp>
      <p:sp>
        <p:nvSpPr>
          <p:cNvPr id="14" name="panel-042">
            <a:extLst xmlns:a="http://schemas.openxmlformats.org/drawingml/2006/main">
              <a:ext uri="{FF2B5EF4-FFF2-40B4-BE49-F238E27FC236}">
                <a16:creationId xmlns:a16="http://schemas.microsoft.com/office/drawing/2014/main" id="{F63973B4-0B49-42D6-BBD1-A883A1B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336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15" name="panel-043">
            <a:extLst xmlns:a="http://schemas.openxmlformats.org/drawingml/2006/main">
              <a:ext uri="{FF2B5EF4-FFF2-40B4-BE49-F238E27FC236}">
                <a16:creationId xmlns:a16="http://schemas.microsoft.com/office/drawing/2014/main" id="{5F07FDD8-688B-4CDB-9641-3161569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16" name="text-044">
            <a:extLst xmlns:a="http://schemas.openxmlformats.org/drawingml/2006/main">
              <a:ext uri="{FF2B5EF4-FFF2-40B4-BE49-F238E27FC236}">
                <a16:creationId xmlns:a16="http://schemas.microsoft.com/office/drawing/2014/main" id="{E81C8801-1448-4188-8B19-A982B6B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Traditional JK control configuration</a:t>
            </a:r>
          </a:p>
        </p:txBody>
      </p:sp>
      <p:sp>
        <p:nvSpPr>
          <p:cNvPr id="17" name="text-045">
            <a:extLst xmlns:a="http://schemas.openxmlformats.org/drawingml/2006/main">
              <a:ext uri="{FF2B5EF4-FFF2-40B4-BE49-F238E27FC236}">
                <a16:creationId xmlns:a16="http://schemas.microsoft.com/office/drawing/2014/main" id="{67E719EB-6942-4711-BC62-E36316A5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03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Modern FPS controls by default, with Modern/Classic switch</a:t>
            </a:r>
          </a:p>
        </p:txBody>
      </p:sp>
      <p:sp>
        <p:nvSpPr>
          <p:cNvPr id="18" name="panel-046">
            <a:extLst xmlns:a="http://schemas.openxmlformats.org/drawingml/2006/main">
              <a:ext uri="{FF2B5EF4-FFF2-40B4-BE49-F238E27FC236}">
                <a16:creationId xmlns:a16="http://schemas.microsoft.com/office/drawing/2014/main" id="{9B5064B8-10A5-4818-B811-EAAD59DD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289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19" name="panel-047">
            <a:extLst xmlns:a="http://schemas.openxmlformats.org/drawingml/2006/main">
              <a:ext uri="{FF2B5EF4-FFF2-40B4-BE49-F238E27FC236}">
                <a16:creationId xmlns:a16="http://schemas.microsoft.com/office/drawing/2014/main" id="{59EEB55C-7D98-4386-B508-07F80C9F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20" name="text-048">
            <a:extLst xmlns:a="http://schemas.openxmlformats.org/drawingml/2006/main">
              <a:ext uri="{FF2B5EF4-FFF2-40B4-BE49-F238E27FC236}">
                <a16:creationId xmlns:a16="http://schemas.microsoft.com/office/drawing/2014/main" id="{E69ECA2D-EC84-4F0D-9A11-BB8C7C10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Standard SDL display behavior</a:t>
            </a:r>
          </a:p>
        </p:txBody>
      </p:sp>
      <p:sp>
        <p:nvSpPr>
          <p:cNvPr id="21" name="text-049">
            <a:extLst xmlns:a="http://schemas.openxmlformats.org/drawingml/2006/main">
              <a:ext uri="{FF2B5EF4-FFF2-40B4-BE49-F238E27FC236}">
                <a16:creationId xmlns:a16="http://schemas.microsoft.com/office/drawing/2014/main" id="{383198C6-7434-41FF-A65D-69EE2862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Native borderless default with complete display options</a:t>
            </a:r>
          </a:p>
        </p:txBody>
      </p:sp>
      <p:sp>
        <p:nvSpPr>
          <p:cNvPr id="22" name="panel-050">
            <a:extLst xmlns:a="http://schemas.openxmlformats.org/drawingml/2006/main">
              <a:ext uri="{FF2B5EF4-FFF2-40B4-BE49-F238E27FC236}">
                <a16:creationId xmlns:a16="http://schemas.microsoft.com/office/drawing/2014/main" id="{11874FDA-FAAE-482E-B3D8-1E9F6041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242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23" name="panel-051">
            <a:extLst xmlns:a="http://schemas.openxmlformats.org/drawingml/2006/main">
              <a:ext uri="{FF2B5EF4-FFF2-40B4-BE49-F238E27FC236}">
                <a16:creationId xmlns:a16="http://schemas.microsoft.com/office/drawing/2014/main" id="{14C6AFEB-172D-49B1-A623-17A88138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24" name="text-052">
            <a:extLst xmlns:a="http://schemas.openxmlformats.org/drawingml/2006/main">
              <a:ext uri="{FF2B5EF4-FFF2-40B4-BE49-F238E27FC236}">
                <a16:creationId xmlns:a16="http://schemas.microsoft.com/office/drawing/2014/main" id="{8767982D-8ADB-4497-83DE-C7EAA01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General OpenGL 3.3 support</a:t>
            </a:r>
          </a:p>
        </p:txBody>
      </p:sp>
      <p:sp>
        <p:nvSpPr>
          <p:cNvPr id="25" name="text-053">
            <a:extLst xmlns:a="http://schemas.openxmlformats.org/drawingml/2006/main">
              <a:ext uri="{FF2B5EF4-FFF2-40B4-BE49-F238E27FC236}">
                <a16:creationId xmlns:a16="http://schemas.microsoft.com/office/drawing/2014/main" id="{3E84887D-B544-402F-BCA2-1808D73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909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Renderer validation, diagnostics and fallbacks tested on RX 7900 XTX</a:t>
            </a:r>
          </a:p>
        </p:txBody>
      </p:sp>
      <p:sp>
        <p:nvSpPr>
          <p:cNvPr id="26" name="panel-054">
            <a:extLst xmlns:a="http://schemas.openxmlformats.org/drawingml/2006/main">
              <a:ext uri="{FF2B5EF4-FFF2-40B4-BE49-F238E27FC236}">
                <a16:creationId xmlns:a16="http://schemas.microsoft.com/office/drawing/2014/main" id="{17F033D3-F471-4270-8D4E-8E283F45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195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27" name="panel-055">
            <a:extLst xmlns:a="http://schemas.openxmlformats.org/drawingml/2006/main">
              <a:ext uri="{FF2B5EF4-FFF2-40B4-BE49-F238E27FC236}">
                <a16:creationId xmlns:a16="http://schemas.microsoft.com/office/drawing/2014/main" id="{905825BD-51C9-4BF9-8221-0273DD8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28" name="text-056">
            <a:extLst xmlns:a="http://schemas.openxmlformats.org/drawingml/2006/main">
              <a:ext uri="{FF2B5EF4-FFF2-40B4-BE49-F238E27FC236}">
                <a16:creationId xmlns:a16="http://schemas.microsoft.com/office/drawing/2014/main" id="{03B458B2-2458-4840-9C53-977D0A5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Primarily a technical source-port release</a:t>
            </a:r>
          </a:p>
        </p:txBody>
      </p:sp>
      <p:sp>
        <p:nvSpPr>
          <p:cNvPr id="29" name="text-057">
            <a:extLst xmlns:a="http://schemas.openxmlformats.org/drawingml/2006/main">
              <a:ext uri="{FF2B5EF4-FFF2-40B4-BE49-F238E27FC236}">
                <a16:creationId xmlns:a16="http://schemas.microsoft.com/office/drawing/2014/main" id="{0ABEA24C-3A05-4EBD-8ADB-4FD69CC5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862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Installer, desktop shortcut, portable mode and uninstaller</a:t>
            </a:r>
          </a:p>
        </p:txBody>
      </p:sp>
      <p:sp>
        <p:nvSpPr>
          <p:cNvPr id="30" name="panel-058">
            <a:extLst xmlns:a="http://schemas.openxmlformats.org/drawingml/2006/main">
              <a:ext uri="{FF2B5EF4-FFF2-40B4-BE49-F238E27FC236}">
                <a16:creationId xmlns:a16="http://schemas.microsoft.com/office/drawing/2014/main" id="{638CA3BE-B24B-402E-83EF-AA1685B5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148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31" name="panel-059">
            <a:extLst xmlns:a="http://schemas.openxmlformats.org/drawingml/2006/main">
              <a:ext uri="{FF2B5EF4-FFF2-40B4-BE49-F238E27FC236}">
                <a16:creationId xmlns:a16="http://schemas.microsoft.com/office/drawing/2014/main" id="{F813FEA6-F680-488D-B5D5-64DAA87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32" name="text-060">
            <a:extLst xmlns:a="http://schemas.openxmlformats.org/drawingml/2006/main">
              <a:ext uri="{FF2B5EF4-FFF2-40B4-BE49-F238E27FC236}">
                <a16:creationId xmlns:a16="http://schemas.microsoft.com/office/drawing/2014/main" id="{30717632-49AA-47A5-A927-82666220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User arranges the game files</a:t>
            </a:r>
          </a:p>
        </p:txBody>
      </p:sp>
      <p:sp>
        <p:nvSpPr>
          <p:cNvPr id="33" name="text-061">
            <a:extLst xmlns:a="http://schemas.openxmlformats.org/drawingml/2006/main">
              <a:ext uri="{FF2B5EF4-FFF2-40B4-BE49-F238E27FC236}">
                <a16:creationId xmlns:a16="http://schemas.microsoft.com/office/drawing/2014/main" id="{22F8C4E0-8F07-4688-AFB1-F6D3D8E9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815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Automatic Steam/GOG discovery and folder fallback</a:t>
            </a:r>
          </a:p>
        </p:txBody>
      </p:sp>
      <p:sp>
        <p:nvSpPr>
          <p:cNvPr id="34" name="panel-062">
            <a:extLst xmlns:a="http://schemas.openxmlformats.org/drawingml/2006/main">
              <a:ext uri="{FF2B5EF4-FFF2-40B4-BE49-F238E27FC236}">
                <a16:creationId xmlns:a16="http://schemas.microsoft.com/office/drawing/2014/main" id="{A7B63235-5A6E-45AA-B78C-335F2AED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10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35" name="panel-063">
            <a:extLst xmlns:a="http://schemas.openxmlformats.org/drawingml/2006/main">
              <a:ext uri="{FF2B5EF4-FFF2-40B4-BE49-F238E27FC236}">
                <a16:creationId xmlns:a16="http://schemas.microsoft.com/office/drawing/2014/main" id="{C8ABA983-B3AD-4CF4-BBE0-F08D839A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36" name="text-064">
            <a:extLst xmlns:a="http://schemas.openxmlformats.org/drawingml/2006/main">
              <a:ext uri="{FF2B5EF4-FFF2-40B4-BE49-F238E27FC236}">
                <a16:creationId xmlns:a16="http://schemas.microsoft.com/office/drawing/2014/main" id="{080574AF-9BD8-45F3-8F24-69340FA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768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Normal failure behavior</a:t>
            </a:r>
          </a:p>
        </p:txBody>
      </p:sp>
      <p:sp>
        <p:nvSpPr>
          <p:cNvPr id="37" name="text-065">
            <a:extLst xmlns:a="http://schemas.openxmlformats.org/drawingml/2006/main">
              <a:ext uri="{FF2B5EF4-FFF2-40B4-BE49-F238E27FC236}">
                <a16:creationId xmlns:a16="http://schemas.microsoft.com/office/drawing/2014/main" id="{AE086869-0448-43FD-A1B2-6504392B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768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Display watchdog, confirmation, recovery and safe-mode support</a:t>
            </a:r>
          </a:p>
        </p:txBody>
      </p:sp>
      <p:sp>
        <p:nvSpPr>
          <p:cNvPr id="38" name="panel-066">
            <a:extLst xmlns:a="http://schemas.openxmlformats.org/drawingml/2006/main">
              <a:ext uri="{FF2B5EF4-FFF2-40B4-BE49-F238E27FC236}">
                <a16:creationId xmlns:a16="http://schemas.microsoft.com/office/drawing/2014/main" id="{4812CC20-ED01-4A5D-B0AB-DB16F51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054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39" name="panel-067">
            <a:extLst xmlns:a="http://schemas.openxmlformats.org/drawingml/2006/main">
              <a:ext uri="{FF2B5EF4-FFF2-40B4-BE49-F238E27FC236}">
                <a16:creationId xmlns:a16="http://schemas.microsoft.com/office/drawing/2014/main" id="{D7E85DCF-DD41-4339-ACDE-A560854D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054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40" name="text-068">
            <a:extLst xmlns:a="http://schemas.openxmlformats.org/drawingml/2006/main">
              <a:ext uri="{FF2B5EF4-FFF2-40B4-BE49-F238E27FC236}">
                <a16:creationId xmlns:a16="http://schemas.microsoft.com/office/drawing/2014/main" id="{0A2FCFF1-2401-42B5-A64A-BBF89AD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Broad platform focus</a:t>
            </a:r>
          </a:p>
        </p:txBody>
      </p:sp>
      <p:sp>
        <p:nvSpPr>
          <p:cNvPr id="41" name="text-069">
            <a:extLst xmlns:a="http://schemas.openxmlformats.org/drawingml/2006/main">
              <a:ext uri="{FF2B5EF4-FFF2-40B4-BE49-F238E27FC236}">
                <a16:creationId xmlns:a16="http://schemas.microsoft.com/office/drawing/2014/main" id="{9B661404-E46B-4501-B71A-1AFDA12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721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Frame-pacing, VSync, refresh-rate and Windows presentation focus</a:t>
            </a:r>
          </a:p>
        </p:txBody>
      </p:sp>
      <p:sp>
        <p:nvSpPr>
          <p:cNvPr id="42" name="panel-070">
            <a:extLst xmlns:a="http://schemas.openxmlformats.org/drawingml/2006/main">
              <a:ext uri="{FF2B5EF4-FFF2-40B4-BE49-F238E27FC236}">
                <a16:creationId xmlns:a16="http://schemas.microsoft.com/office/drawing/2014/main" id="{2509540B-2CD5-4EDA-9FC5-549282C4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0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43" name="panel-071">
            <a:extLst xmlns:a="http://schemas.openxmlformats.org/drawingml/2006/main">
              <a:ext uri="{FF2B5EF4-FFF2-40B4-BE49-F238E27FC236}">
                <a16:creationId xmlns:a16="http://schemas.microsoft.com/office/drawing/2014/main" id="{74A19CFC-41BD-49EF-BABF-EE05648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00075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76501D"/>
            </a:solidFill>
            <a:prstDash val="solid"/>
          </a:ln>
        </p:spPr>
      </p:sp>
      <p:sp>
        <p:nvSpPr>
          <p:cNvPr id="44" name="text-072">
            <a:extLst xmlns:a="http://schemas.openxmlformats.org/drawingml/2006/main">
              <a:ext uri="{FF2B5EF4-FFF2-40B4-BE49-F238E27FC236}">
                <a16:creationId xmlns:a16="http://schemas.microsoft.com/office/drawing/2014/main" id="{40E26E48-B2CB-4DA6-A181-290D0B5F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67425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Developer-oriented documentation</a:t>
            </a:r>
          </a:p>
        </p:txBody>
      </p:sp>
      <p:sp>
        <p:nvSpPr>
          <p:cNvPr id="45" name="text-073">
            <a:extLst xmlns:a="http://schemas.openxmlformats.org/drawingml/2006/main">
              <a:ext uri="{FF2B5EF4-FFF2-40B4-BE49-F238E27FC236}">
                <a16:creationId xmlns:a16="http://schemas.microsoft.com/office/drawing/2014/main" id="{1EAA886C-D62D-4F1F-B8D2-68234D40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67425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Consumer installation guide, screenshots, checksums and provenance</a:t>
            </a:r>
          </a:p>
        </p:txBody>
      </p:sp>
    </p:spTree>
    <p:extLst>
      <p:ext uri="{BB962C8B-B14F-4D97-AF65-F5344CB8AC3E}">
        <p14:creationId xmlns:p14="http://schemas.microsoft.com/office/powerpoint/2010/main" val="979439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-074">
            <a:extLst xmlns:a="http://schemas.openxmlformats.org/drawingml/2006/main">
              <a:ext uri="{FF2B5EF4-FFF2-40B4-BE49-F238E27FC236}">
                <a16:creationId xmlns:a16="http://schemas.microsoft.com/office/drawing/2014/main" id="{EEC54304-0726-4E33-BBAA-86413B5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MODERN FPS CONTROLS ARE THE DEFAULT</a:t>
            </a:r>
          </a:p>
        </p:txBody>
      </p:sp>
      <p:sp>
        <p:nvSpPr>
          <p:cNvPr id="2" name="rule-075">
            <a:extLst xmlns:a="http://schemas.openxmlformats.org/drawingml/2006/main">
              <a:ext uri="{FF2B5EF4-FFF2-40B4-BE49-F238E27FC236}">
                <a16:creationId xmlns:a16="http://schemas.microsoft.com/office/drawing/2014/main" id="{2B2A249A-10F3-44E8-94B7-1138342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3" name="page-076">
            <a:extLst xmlns:a="http://schemas.openxmlformats.org/drawingml/2006/main">
              <a:ext uri="{FF2B5EF4-FFF2-40B4-BE49-F238E27FC236}">
                <a16:creationId xmlns:a16="http://schemas.microsoft.com/office/drawing/2014/main" id="{B34FEBA6-B4BA-4A66-ABD0-EDB226AF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4" name="panel-077">
            <a:extLst xmlns:a="http://schemas.openxmlformats.org/drawingml/2006/main">
              <a:ext uri="{FF2B5EF4-FFF2-40B4-BE49-F238E27FC236}">
                <a16:creationId xmlns:a16="http://schemas.microsoft.com/office/drawing/2014/main" id="{D1D531C6-2085-4A04-B2C8-98E1B773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69532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6d3c373d04c68"/>
          <a:stretch xmlns:a="http://schemas.openxmlformats.org/drawingml/2006/main"/>
        </p:blipFill>
        <p:spPr>
          <a:xfrm xmlns:a="http://schemas.openxmlformats.org/drawingml/2006/main">
            <a:off x="836913" y="1438275"/>
            <a:ext cx="6079524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text-079">
            <a:extLst xmlns:a="http://schemas.openxmlformats.org/drawingml/2006/main">
              <a:ext uri="{FF2B5EF4-FFF2-40B4-BE49-F238E27FC236}">
                <a16:creationId xmlns:a16="http://schemas.microsoft.com/office/drawing/2014/main" id="{63C0A743-1E37-4F6A-BCD4-A28EC0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E36A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E36A"/>
                </a:solidFill>
                <a:latin typeface="Georgia"/>
                <a:ea typeface="Georgia"/>
                <a:cs typeface="Georgia"/>
              </a:rPr>
              <a:t>MODERN BY DEFAULT</a:t>
            </a:r>
          </a:p>
        </p:txBody>
      </p:sp>
      <p:sp>
        <p:nvSpPr>
          <p:cNvPr id="7" name="text-080">
            <a:extLst xmlns:a="http://schemas.openxmlformats.org/drawingml/2006/main">
              <a:ext uri="{FF2B5EF4-FFF2-40B4-BE49-F238E27FC236}">
                <a16:creationId xmlns:a16="http://schemas.microsoft.com/office/drawing/2014/main" id="{32B20A5F-1FA9-469D-80A3-99815CBF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MOVE / LOOK</a:t>
            </a:r>
          </a:p>
        </p:txBody>
      </p:sp>
      <p:sp>
        <p:nvSpPr>
          <p:cNvPr id="8" name="text-081">
            <a:extLst xmlns:a="http://schemas.openxmlformats.org/drawingml/2006/main">
              <a:ext uri="{FF2B5EF4-FFF2-40B4-BE49-F238E27FC236}">
                <a16:creationId xmlns:a16="http://schemas.microsoft.com/office/drawing/2014/main" id="{2738119C-ED9F-492E-B4B1-52BAB98C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WASD / mouse</a:t>
            </a:r>
          </a:p>
        </p:txBody>
      </p:sp>
      <p:sp>
        <p:nvSpPr>
          <p:cNvPr id="9" name="rule-082">
            <a:extLst xmlns:a="http://schemas.openxmlformats.org/drawingml/2006/main">
              <a:ext uri="{FF2B5EF4-FFF2-40B4-BE49-F238E27FC236}">
                <a16:creationId xmlns:a16="http://schemas.microsoft.com/office/drawing/2014/main" id="{F8531700-572F-475A-BCF3-AE5A223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90800"/>
            <a:ext cx="384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01D"/>
          </a:solidFill>
          <a:ln xmlns:a="http://schemas.openxmlformats.org/drawingml/2006/main" w="0">
            <a:solidFill>
              <a:srgbClr val="76501D"/>
            </a:solidFill>
            <a:prstDash val="solid"/>
          </a:ln>
        </p:spPr>
      </p:sp>
      <p:sp>
        <p:nvSpPr>
          <p:cNvPr id="10" name="text-083">
            <a:extLst xmlns:a="http://schemas.openxmlformats.org/drawingml/2006/main">
              <a:ext uri="{FF2B5EF4-FFF2-40B4-BE49-F238E27FC236}">
                <a16:creationId xmlns:a16="http://schemas.microsoft.com/office/drawing/2014/main" id="{909A4F9B-323B-4FDB-944A-BB538DED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05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PRIMARY / SECONDARY</a:t>
            </a:r>
          </a:p>
        </p:txBody>
      </p:sp>
      <p:sp>
        <p:nvSpPr>
          <p:cNvPr id="11" name="text-084">
            <a:extLst xmlns:a="http://schemas.openxmlformats.org/drawingml/2006/main">
              <a:ext uri="{FF2B5EF4-FFF2-40B4-BE49-F238E27FC236}">
                <a16:creationId xmlns:a16="http://schemas.microsoft.com/office/drawing/2014/main" id="{8682409C-0730-4269-8C1D-25449097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860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Left mouse / right mouse</a:t>
            </a:r>
          </a:p>
        </p:txBody>
      </p:sp>
      <p:sp>
        <p:nvSpPr>
          <p:cNvPr id="12" name="rule-085">
            <a:extLst xmlns:a="http://schemas.openxmlformats.org/drawingml/2006/main">
              <a:ext uri="{FF2B5EF4-FFF2-40B4-BE49-F238E27FC236}">
                <a16:creationId xmlns:a16="http://schemas.microsoft.com/office/drawing/2014/main" id="{AACA597F-EA36-4339-B250-CC140F15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28975"/>
            <a:ext cx="384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01D"/>
          </a:solidFill>
          <a:ln xmlns:a="http://schemas.openxmlformats.org/drawingml/2006/main" w="0">
            <a:solidFill>
              <a:srgbClr val="76501D"/>
            </a:solidFill>
            <a:prstDash val="solid"/>
          </a:ln>
        </p:spPr>
      </p:sp>
      <p:sp>
        <p:nvSpPr>
          <p:cNvPr id="13" name="text-086">
            <a:extLst xmlns:a="http://schemas.openxmlformats.org/drawingml/2006/main">
              <a:ext uri="{FF2B5EF4-FFF2-40B4-BE49-F238E27FC236}">
                <a16:creationId xmlns:a16="http://schemas.microsoft.com/office/drawing/2014/main" id="{39138F2B-167E-4E6C-867C-2D6E9D26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JUMP / CROUCH</a:t>
            </a:r>
          </a:p>
        </p:txBody>
      </p:sp>
      <p:sp>
        <p:nvSpPr>
          <p:cNvPr id="14" name="text-087">
            <a:extLst xmlns:a="http://schemas.openxmlformats.org/drawingml/2006/main">
              <a:ext uri="{FF2B5EF4-FFF2-40B4-BE49-F238E27FC236}">
                <a16:creationId xmlns:a16="http://schemas.microsoft.com/office/drawing/2014/main" id="{334DE3B3-2E7F-4C36-B949-5AB8D82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Space / Ctrl or C</a:t>
            </a:r>
          </a:p>
        </p:txBody>
      </p:sp>
      <p:sp>
        <p:nvSpPr>
          <p:cNvPr id="15" name="rule-088">
            <a:extLst xmlns:a="http://schemas.openxmlformats.org/drawingml/2006/main">
              <a:ext uri="{FF2B5EF4-FFF2-40B4-BE49-F238E27FC236}">
                <a16:creationId xmlns:a16="http://schemas.microsoft.com/office/drawing/2014/main" id="{692BD9BE-B808-4534-8707-F3328C8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384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01D"/>
          </a:solidFill>
          <a:ln xmlns:a="http://schemas.openxmlformats.org/drawingml/2006/main" w="0">
            <a:solidFill>
              <a:srgbClr val="76501D"/>
            </a:solidFill>
            <a:prstDash val="solid"/>
          </a:ln>
        </p:spPr>
      </p:sp>
      <p:sp>
        <p:nvSpPr>
          <p:cNvPr id="16" name="text-089">
            <a:extLst xmlns:a="http://schemas.openxmlformats.org/drawingml/2006/main">
              <a:ext uri="{FF2B5EF4-FFF2-40B4-BE49-F238E27FC236}">
                <a16:creationId xmlns:a16="http://schemas.microsoft.com/office/drawing/2014/main" id="{DBAE9D56-2875-453F-A535-122B696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814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RUN / USE</a:t>
            </a:r>
          </a:p>
        </p:txBody>
      </p:sp>
      <p:sp>
        <p:nvSpPr>
          <p:cNvPr id="17" name="text-090">
            <a:extLst xmlns:a="http://schemas.openxmlformats.org/drawingml/2006/main">
              <a:ext uri="{FF2B5EF4-FFF2-40B4-BE49-F238E27FC236}">
                <a16:creationId xmlns:a16="http://schemas.microsoft.com/office/drawing/2014/main" id="{D9F8B4F2-629A-40C4-B81E-73E825E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624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Shift / E</a:t>
            </a:r>
          </a:p>
        </p:txBody>
      </p:sp>
      <p:sp>
        <p:nvSpPr>
          <p:cNvPr id="18" name="rule-091">
            <a:extLst xmlns:a="http://schemas.openxmlformats.org/drawingml/2006/main">
              <a:ext uri="{FF2B5EF4-FFF2-40B4-BE49-F238E27FC236}">
                <a16:creationId xmlns:a16="http://schemas.microsoft.com/office/drawing/2014/main" id="{482D674A-ABB8-40ED-A103-51166F6C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05325"/>
            <a:ext cx="384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01D"/>
          </a:solidFill>
          <a:ln xmlns:a="http://schemas.openxmlformats.org/drawingml/2006/main" w="0">
            <a:solidFill>
              <a:srgbClr val="76501D"/>
            </a:solidFill>
            <a:prstDash val="solid"/>
          </a:ln>
        </p:spPr>
      </p:sp>
      <p:sp>
        <p:nvSpPr>
          <p:cNvPr id="19" name="text-092">
            <a:extLst xmlns:a="http://schemas.openxmlformats.org/drawingml/2006/main">
              <a:ext uri="{FF2B5EF4-FFF2-40B4-BE49-F238E27FC236}">
                <a16:creationId xmlns:a16="http://schemas.microsoft.com/office/drawing/2014/main" id="{21CCF6BB-E0BB-41B4-AD3F-429AD54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96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WEAPONS / MAP</a:t>
            </a:r>
          </a:p>
        </p:txBody>
      </p:sp>
      <p:sp>
        <p:nvSpPr>
          <p:cNvPr id="20" name="text-093">
            <a:extLst xmlns:a="http://schemas.openxmlformats.org/drawingml/2006/main">
              <a:ext uri="{FF2B5EF4-FFF2-40B4-BE49-F238E27FC236}">
                <a16:creationId xmlns:a16="http://schemas.microsoft.com/office/drawing/2014/main" id="{966A16A3-A685-4DA9-9648-703F7A54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006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Wheel or numbers / Tab</a:t>
            </a:r>
          </a:p>
        </p:txBody>
      </p:sp>
      <p:sp>
        <p:nvSpPr>
          <p:cNvPr id="21" name="rule-094">
            <a:extLst xmlns:a="http://schemas.openxmlformats.org/drawingml/2006/main">
              <a:ext uri="{FF2B5EF4-FFF2-40B4-BE49-F238E27FC236}">
                <a16:creationId xmlns:a16="http://schemas.microsoft.com/office/drawing/2014/main" id="{538638EC-31FF-4849-AB7B-35E4CCC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0"/>
            <a:ext cx="384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01D"/>
          </a:solidFill>
          <a:ln xmlns:a="http://schemas.openxmlformats.org/drawingml/2006/main" w="0">
            <a:solidFill>
              <a:srgbClr val="76501D"/>
            </a:solidFill>
            <a:prstDash val="solid"/>
          </a:ln>
        </p:spPr>
      </p:sp>
      <p:sp>
        <p:nvSpPr>
          <p:cNvPr id="22" name="text-095">
            <a:extLst xmlns:a="http://schemas.openxmlformats.org/drawingml/2006/main">
              <a:ext uri="{FF2B5EF4-FFF2-40B4-BE49-F238E27FC236}">
                <a16:creationId xmlns:a16="http://schemas.microsoft.com/office/drawing/2014/main" id="{A371D5B5-B3F3-40C7-828A-3F6B70F1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388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1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Original bindings remain available through the Modern/Classic switch.</a:t>
            </a:r>
          </a:p>
        </p:txBody>
      </p:sp>
    </p:spTree>
    <p:extLst>
      <p:ext uri="{BB962C8B-B14F-4D97-AF65-F5344CB8AC3E}">
        <p14:creationId xmlns:p14="http://schemas.microsoft.com/office/powerpoint/2010/main" val="1665261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-096">
            <a:extLst xmlns:a="http://schemas.openxmlformats.org/drawingml/2006/main">
              <a:ext uri="{FF2B5EF4-FFF2-40B4-BE49-F238E27FC236}">
                <a16:creationId xmlns:a16="http://schemas.microsoft.com/office/drawing/2014/main" id="{6EFB7A7D-B206-48B7-A8DB-49DDFE7B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NATIVE BORDERLESS FULLSCREEN BY DEFAULT</a:t>
            </a:r>
          </a:p>
        </p:txBody>
      </p:sp>
      <p:sp>
        <p:nvSpPr>
          <p:cNvPr id="2" name="rule-097">
            <a:extLst xmlns:a="http://schemas.openxmlformats.org/drawingml/2006/main">
              <a:ext uri="{FF2B5EF4-FFF2-40B4-BE49-F238E27FC236}">
                <a16:creationId xmlns:a16="http://schemas.microsoft.com/office/drawing/2014/main" id="{B315530D-241B-4A24-9204-9942C0D2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3" name="page-098">
            <a:extLst xmlns:a="http://schemas.openxmlformats.org/drawingml/2006/main">
              <a:ext uri="{FF2B5EF4-FFF2-40B4-BE49-F238E27FC236}">
                <a16:creationId xmlns:a16="http://schemas.microsoft.com/office/drawing/2014/main" id="{3494FC16-9A31-4F04-8B96-B292134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4" name="panel-099">
            <a:extLst xmlns:a="http://schemas.openxmlformats.org/drawingml/2006/main">
              <a:ext uri="{FF2B5EF4-FFF2-40B4-BE49-F238E27FC236}">
                <a16:creationId xmlns:a16="http://schemas.microsoft.com/office/drawing/2014/main" id="{4B184E94-2B47-4503-A904-3821BFC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4438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5" name="rule-100">
            <a:extLst xmlns:a="http://schemas.openxmlformats.org/drawingml/2006/main">
              <a:ext uri="{FF2B5EF4-FFF2-40B4-BE49-F238E27FC236}">
                <a16:creationId xmlns:a16="http://schemas.microsoft.com/office/drawing/2014/main" id="{7237CD54-7957-4DB5-B746-8900AE2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6" name="callout-title-101">
            <a:extLst xmlns:a="http://schemas.openxmlformats.org/drawingml/2006/main">
              <a:ext uri="{FF2B5EF4-FFF2-40B4-BE49-F238E27FC236}">
                <a16:creationId xmlns:a16="http://schemas.microsoft.com/office/drawing/2014/main" id="{36504C4D-0189-4EB2-BF3A-DF7D86CF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DEFAULT</a:t>
            </a:r>
          </a:p>
        </p:txBody>
      </p:sp>
      <p:sp>
        <p:nvSpPr>
          <p:cNvPr id="7" name="callout-body-102">
            <a:extLst xmlns:a="http://schemas.openxmlformats.org/drawingml/2006/main">
              <a:ext uri="{FF2B5EF4-FFF2-40B4-BE49-F238E27FC236}">
                <a16:creationId xmlns:a16="http://schemas.microsoft.com/office/drawing/2014/main" id="{22EDA3DF-9837-4B6A-95B3-DBB4C075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Primary monitor, native desktop pixel count and borderless fullscreen.</a:t>
            </a:r>
          </a:p>
        </p:txBody>
      </p:sp>
      <p:sp>
        <p:nvSpPr>
          <p:cNvPr id="8" name="panel-103">
            <a:extLst xmlns:a="http://schemas.openxmlformats.org/drawingml/2006/main">
              <a:ext uri="{FF2B5EF4-FFF2-40B4-BE49-F238E27FC236}">
                <a16:creationId xmlns:a16="http://schemas.microsoft.com/office/drawing/2014/main" id="{E405CD1D-BFB2-4DBB-B4FF-AF3441B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438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9" name="rule-104">
            <a:extLst xmlns:a="http://schemas.openxmlformats.org/drawingml/2006/main">
              <a:ext uri="{FF2B5EF4-FFF2-40B4-BE49-F238E27FC236}">
                <a16:creationId xmlns:a16="http://schemas.microsoft.com/office/drawing/2014/main" id="{1746CC11-A54B-4F62-A966-36430075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10" name="callout-title-105">
            <a:extLst xmlns:a="http://schemas.openxmlformats.org/drawingml/2006/main">
              <a:ext uri="{FF2B5EF4-FFF2-40B4-BE49-F238E27FC236}">
                <a16:creationId xmlns:a16="http://schemas.microsoft.com/office/drawing/2014/main" id="{5E8C7CB4-5F76-4319-BA79-F7BFCCB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CHOICE</a:t>
            </a:r>
          </a:p>
        </p:txBody>
      </p:sp>
      <p:sp>
        <p:nvSpPr>
          <p:cNvPr id="11" name="callout-body-106">
            <a:extLst xmlns:a="http://schemas.openxmlformats.org/drawingml/2006/main">
              <a:ext uri="{FF2B5EF4-FFF2-40B4-BE49-F238E27FC236}">
                <a16:creationId xmlns:a16="http://schemas.microsoft.com/office/drawing/2014/main" id="{04694A64-38DE-447E-BEE3-F143C56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Borderless, Windowed and safety-gated Exclusive Fullscreen modes.</a:t>
            </a:r>
          </a:p>
        </p:txBody>
      </p:sp>
      <p:sp>
        <p:nvSpPr>
          <p:cNvPr id="12" name="panel-107">
            <a:extLst xmlns:a="http://schemas.openxmlformats.org/drawingml/2006/main">
              <a:ext uri="{FF2B5EF4-FFF2-40B4-BE49-F238E27FC236}">
                <a16:creationId xmlns:a16="http://schemas.microsoft.com/office/drawing/2014/main" id="{5C99D846-2451-4535-9616-7D79C698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4438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13" name="rule-108">
            <a:extLst xmlns:a="http://schemas.openxmlformats.org/drawingml/2006/main">
              <a:ext uri="{FF2B5EF4-FFF2-40B4-BE49-F238E27FC236}">
                <a16:creationId xmlns:a16="http://schemas.microsoft.com/office/drawing/2014/main" id="{2E087FD6-872B-4BC8-8CD2-7D631A8F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14" name="callout-title-109">
            <a:extLst xmlns:a="http://schemas.openxmlformats.org/drawingml/2006/main">
              <a:ext uri="{FF2B5EF4-FFF2-40B4-BE49-F238E27FC236}">
                <a16:creationId xmlns:a16="http://schemas.microsoft.com/office/drawing/2014/main" id="{7E5ABADD-9DDB-4ED1-9823-3FC07E65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SAFETY</a:t>
            </a:r>
          </a:p>
        </p:txBody>
      </p:sp>
      <p:sp>
        <p:nvSpPr>
          <p:cNvPr id="15" name="callout-body-110">
            <a:extLst xmlns:a="http://schemas.openxmlformats.org/drawingml/2006/main">
              <a:ext uri="{FF2B5EF4-FFF2-40B4-BE49-F238E27FC236}">
                <a16:creationId xmlns:a16="http://schemas.microsoft.com/office/drawing/2014/main" id="{9A9B5750-A8EC-42E9-8CA0-F94A7EA9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Confirmation, previous-state recovery and a dedicated display watchdog.</a:t>
            </a:r>
          </a:p>
        </p:txBody>
      </p:sp>
      <p:sp>
        <p:nvSpPr>
          <p:cNvPr id="16" name="panel-111">
            <a:extLst xmlns:a="http://schemas.openxmlformats.org/drawingml/2006/main">
              <a:ext uri="{FF2B5EF4-FFF2-40B4-BE49-F238E27FC236}">
                <a16:creationId xmlns:a16="http://schemas.microsoft.com/office/drawing/2014/main" id="{331DE220-2822-4130-8B8F-C450A5B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28750"/>
            <a:ext cx="65913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34deab0684a96"/>
          <a:stretch xmlns:a="http://schemas.openxmlformats.org/drawingml/2006/main"/>
        </p:blipFill>
        <p:spPr>
          <a:xfrm xmlns:a="http://schemas.openxmlformats.org/drawingml/2006/main">
            <a:off x="5248275" y="1916311"/>
            <a:ext cx="6496050" cy="36540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92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-113">
            <a:extLst xmlns:a="http://schemas.openxmlformats.org/drawingml/2006/main">
              <a:ext uri="{FF2B5EF4-FFF2-40B4-BE49-F238E27FC236}">
                <a16:creationId xmlns:a16="http://schemas.microsoft.com/office/drawing/2014/main" id="{A8C0ADCA-ED4F-4349-BDBA-A023DAC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VISIBLE FAILURES, SAFER RECOVERY</a:t>
            </a:r>
          </a:p>
        </p:txBody>
      </p:sp>
      <p:sp>
        <p:nvSpPr>
          <p:cNvPr id="2" name="rule-114">
            <a:extLst xmlns:a="http://schemas.openxmlformats.org/drawingml/2006/main">
              <a:ext uri="{FF2B5EF4-FFF2-40B4-BE49-F238E27FC236}">
                <a16:creationId xmlns:a16="http://schemas.microsoft.com/office/drawing/2014/main" id="{3320C989-9ABC-4110-922B-5FF47907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3" name="page-115">
            <a:extLst xmlns:a="http://schemas.openxmlformats.org/drawingml/2006/main">
              <a:ext uri="{FF2B5EF4-FFF2-40B4-BE49-F238E27FC236}">
                <a16:creationId xmlns:a16="http://schemas.microsoft.com/office/drawing/2014/main" id="{5FEA9EA1-9874-4467-9BC2-92F2D9B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4" name="panel-116">
            <a:extLst xmlns:a="http://schemas.openxmlformats.org/drawingml/2006/main">
              <a:ext uri="{FF2B5EF4-FFF2-40B4-BE49-F238E27FC236}">
                <a16:creationId xmlns:a16="http://schemas.microsoft.com/office/drawing/2014/main" id="{FDE0BF7B-B9DF-4465-BF5F-205198F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7762c1d924a0a"/>
          <a:stretch xmlns:a="http://schemas.openxmlformats.org/drawingml/2006/main"/>
        </p:blipFill>
        <p:spPr>
          <a:xfrm xmlns:a="http://schemas.openxmlformats.org/drawingml/2006/main">
            <a:off x="447675" y="1904405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6" name="panel-118">
            <a:extLst xmlns:a="http://schemas.openxmlformats.org/drawingml/2006/main">
              <a:ext uri="{FF2B5EF4-FFF2-40B4-BE49-F238E27FC236}">
                <a16:creationId xmlns:a16="http://schemas.microsoft.com/office/drawing/2014/main" id="{319B277F-4A05-4546-A348-9CAD37D7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436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7" name="rule-119">
            <a:extLst xmlns:a="http://schemas.openxmlformats.org/drawingml/2006/main">
              <a:ext uri="{FF2B5EF4-FFF2-40B4-BE49-F238E27FC236}">
                <a16:creationId xmlns:a16="http://schemas.microsoft.com/office/drawing/2014/main" id="{C3A4FB08-C344-40A6-B484-017C7E6D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8" name="callout-title-120">
            <a:extLst xmlns:a="http://schemas.openxmlformats.org/drawingml/2006/main">
              <a:ext uri="{FF2B5EF4-FFF2-40B4-BE49-F238E27FC236}">
                <a16:creationId xmlns:a16="http://schemas.microsoft.com/office/drawing/2014/main" id="{5F1F516C-4DED-4947-9FF0-91CCD746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002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VALIDATE</a:t>
            </a:r>
          </a:p>
        </p:txBody>
      </p:sp>
      <p:sp>
        <p:nvSpPr>
          <p:cNvPr id="9" name="callout-body-121">
            <a:extLst xmlns:a="http://schemas.openxmlformats.org/drawingml/2006/main">
              <a:ext uri="{FF2B5EF4-FFF2-40B4-BE49-F238E27FC236}">
                <a16:creationId xmlns:a16="http://schemas.microsoft.com/office/drawing/2014/main" id="{87705B11-BD31-43B8-8D10-CD73EA0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3962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OpenGL 3.3 shaders, textures and framebuffers are checked explicitly.</a:t>
            </a:r>
          </a:p>
        </p:txBody>
      </p:sp>
      <p:sp>
        <p:nvSpPr>
          <p:cNvPr id="10" name="panel-122">
            <a:extLst xmlns:a="http://schemas.openxmlformats.org/drawingml/2006/main">
              <a:ext uri="{FF2B5EF4-FFF2-40B4-BE49-F238E27FC236}">
                <a16:creationId xmlns:a16="http://schemas.microsoft.com/office/drawing/2014/main" id="{C19EF127-7679-4E12-9897-5D25BA36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436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11" name="rule-123">
            <a:extLst xmlns:a="http://schemas.openxmlformats.org/drawingml/2006/main">
              <a:ext uri="{FF2B5EF4-FFF2-40B4-BE49-F238E27FC236}">
                <a16:creationId xmlns:a16="http://schemas.microsoft.com/office/drawing/2014/main" id="{7D059B3C-1AE1-451C-8205-EC0FC96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12" name="callout-title-124">
            <a:extLst xmlns:a="http://schemas.openxmlformats.org/drawingml/2006/main">
              <a:ext uri="{FF2B5EF4-FFF2-40B4-BE49-F238E27FC236}">
                <a16:creationId xmlns:a16="http://schemas.microsoft.com/office/drawing/2014/main" id="{8DD0489D-C27E-4B0C-9A34-A549126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ADAPT</a:t>
            </a:r>
          </a:p>
        </p:txBody>
      </p:sp>
      <p:sp>
        <p:nvSpPr>
          <p:cNvPr id="13" name="callout-body-125">
            <a:extLst xmlns:a="http://schemas.openxmlformats.org/drawingml/2006/main">
              <a:ext uri="{FF2B5EF4-FFF2-40B4-BE49-F238E27FC236}">
                <a16:creationId xmlns:a16="http://schemas.microsoft.com/office/drawing/2014/main" id="{12D2440F-EDE2-479F-B10C-3F447061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81400"/>
            <a:ext cx="3962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Capability-based fallbacks avoid GPU vendor-name branches.</a:t>
            </a:r>
          </a:p>
        </p:txBody>
      </p:sp>
      <p:sp>
        <p:nvSpPr>
          <p:cNvPr id="14" name="panel-126">
            <a:extLst xmlns:a="http://schemas.openxmlformats.org/drawingml/2006/main">
              <a:ext uri="{FF2B5EF4-FFF2-40B4-BE49-F238E27FC236}">
                <a16:creationId xmlns:a16="http://schemas.microsoft.com/office/drawing/2014/main" id="{F19128CE-9122-4F78-8834-2F257E02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4362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15" name="rule-127">
            <a:extLst xmlns:a="http://schemas.openxmlformats.org/drawingml/2006/main">
              <a:ext uri="{FF2B5EF4-FFF2-40B4-BE49-F238E27FC236}">
                <a16:creationId xmlns:a16="http://schemas.microsoft.com/office/drawing/2014/main" id="{BB2E333B-3826-4846-83F6-F6062ECA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16" name="callout-title-128">
            <a:extLst xmlns:a="http://schemas.openxmlformats.org/drawingml/2006/main">
              <a:ext uri="{FF2B5EF4-FFF2-40B4-BE49-F238E27FC236}">
                <a16:creationId xmlns:a16="http://schemas.microsoft.com/office/drawing/2014/main" id="{FCA2AF89-2DEC-493A-BB81-1349C3C5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RECOVER</a:t>
            </a:r>
          </a:p>
        </p:txBody>
      </p:sp>
      <p:sp>
        <p:nvSpPr>
          <p:cNvPr id="17" name="callout-body-129">
            <a:extLst xmlns:a="http://schemas.openxmlformats.org/drawingml/2006/main">
              <a:ext uri="{FF2B5EF4-FFF2-40B4-BE49-F238E27FC236}">
                <a16:creationId xmlns:a16="http://schemas.microsoft.com/office/drawing/2014/main" id="{85B73E65-FD2E-4B29-BBBC-F0CE67A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625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GPU, driver, timing and swap-policy logs support diagnostics and safe mode.</a:t>
            </a:r>
          </a:p>
        </p:txBody>
      </p:sp>
    </p:spTree>
    <p:extLst>
      <p:ext uri="{BB962C8B-B14F-4D97-AF65-F5344CB8AC3E}">
        <p14:creationId xmlns:p14="http://schemas.microsoft.com/office/powerpoint/2010/main" val="421634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-130">
            <a:extLst xmlns:a="http://schemas.openxmlformats.org/drawingml/2006/main">
              <a:ext uri="{FF2B5EF4-FFF2-40B4-BE49-F238E27FC236}">
                <a16:creationId xmlns:a16="http://schemas.microsoft.com/office/drawing/2014/main" id="{F2AA73D9-A9A2-4AA7-A708-6E8DD81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A REPRODUCIBLE PUBLIC RELEASE</a:t>
            </a:r>
          </a:p>
        </p:txBody>
      </p:sp>
      <p:sp>
        <p:nvSpPr>
          <p:cNvPr id="2" name="rule-131">
            <a:extLst xmlns:a="http://schemas.openxmlformats.org/drawingml/2006/main">
              <a:ext uri="{FF2B5EF4-FFF2-40B4-BE49-F238E27FC236}">
                <a16:creationId xmlns:a16="http://schemas.microsoft.com/office/drawing/2014/main" id="{F4655BB5-9BFA-4D0C-B039-7F1AF99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3" name="source-132">
            <a:extLst xmlns:a="http://schemas.openxmlformats.org/drawingml/2006/main">
              <a:ext uri="{FF2B5EF4-FFF2-40B4-BE49-F238E27FC236}">
                <a16:creationId xmlns:a16="http://schemas.microsoft.com/office/drawing/2014/main" id="{8AD18780-E3EB-4BBF-8660-F06246F5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Release 1.0 - main branch - engine-only package</a:t>
            </a:r>
          </a:p>
        </p:txBody>
      </p:sp>
      <p:sp>
        <p:nvSpPr>
          <p:cNvPr id="4" name="page-133">
            <a:extLst xmlns:a="http://schemas.openxmlformats.org/drawingml/2006/main">
              <a:ext uri="{FF2B5EF4-FFF2-40B4-BE49-F238E27FC236}">
                <a16:creationId xmlns:a16="http://schemas.microsoft.com/office/drawing/2014/main" id="{163F3B3A-56EB-4DAF-B48B-FBB2F0D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5" name="text-134">
            <a:extLst xmlns:a="http://schemas.openxmlformats.org/drawingml/2006/main">
              <a:ext uri="{FF2B5EF4-FFF2-40B4-BE49-F238E27FC236}">
                <a16:creationId xmlns:a16="http://schemas.microsoft.com/office/drawing/2014/main" id="{EFA1776D-65D5-4FA7-B1F7-8C24C87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1650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Installer, portable launcher, Steam/GOG discovery, uninstaller, manifests, legal notices and matching tagged source.</a:t>
            </a:r>
          </a:p>
        </p:txBody>
      </p:sp>
      <p:sp>
        <p:nvSpPr>
          <p:cNvPr id="6" name="panel-135">
            <a:extLst xmlns:a="http://schemas.openxmlformats.org/drawingml/2006/main">
              <a:ext uri="{FF2B5EF4-FFF2-40B4-BE49-F238E27FC236}">
                <a16:creationId xmlns:a16="http://schemas.microsoft.com/office/drawing/2014/main" id="{2A6FE15D-A0ED-4B1D-BC88-2372E103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3581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sp>
        <p:nvSpPr>
          <p:cNvPr id="7" name="rule-136">
            <a:extLst xmlns:a="http://schemas.openxmlformats.org/drawingml/2006/main">
              <a:ext uri="{FF2B5EF4-FFF2-40B4-BE49-F238E27FC236}">
                <a16:creationId xmlns:a16="http://schemas.microsoft.com/office/drawing/2014/main" id="{1891DE5C-B0D0-4DCD-9668-D228CC89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3581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8" name="text-137">
            <a:extLst xmlns:a="http://schemas.openxmlformats.org/drawingml/2006/main">
              <a:ext uri="{FF2B5EF4-FFF2-40B4-BE49-F238E27FC236}">
                <a16:creationId xmlns:a16="http://schemas.microsoft.com/office/drawing/2014/main" id="{D4DE23D4-B8CD-4184-97F4-C92806B3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E36A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FE36A"/>
                </a:solidFill>
                <a:latin typeface="Georgia"/>
                <a:ea typeface="Georgia"/>
                <a:cs typeface="Georgia"/>
              </a:rPr>
              <a:t>92</a:t>
            </a:r>
          </a:p>
        </p:txBody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1FC4F8C5-B19A-4ADD-9143-E82A710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TEST EXECUTIONS</a:t>
            </a:r>
          </a:p>
        </p:txBody>
      </p:sp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9FE7FFC7-D07A-4BE4-9096-D40C1F40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46 Debug + 46 Release checks passed.</a:t>
            </a:r>
          </a:p>
        </p:txBody>
      </p:sp>
      <p:sp>
        <p:nvSpPr>
          <p:cNvPr id="11" name="panel-140">
            <a:extLst xmlns:a="http://schemas.openxmlformats.org/drawingml/2006/main">
              <a:ext uri="{FF2B5EF4-FFF2-40B4-BE49-F238E27FC236}">
                <a16:creationId xmlns:a16="http://schemas.microsoft.com/office/drawing/2014/main" id="{4ED3DBC4-C65B-4E58-8C22-76A8A5A4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sp>
        <p:nvSpPr>
          <p:cNvPr id="12" name="rule-141">
            <a:extLst xmlns:a="http://schemas.openxmlformats.org/drawingml/2006/main">
              <a:ext uri="{FF2B5EF4-FFF2-40B4-BE49-F238E27FC236}">
                <a16:creationId xmlns:a16="http://schemas.microsoft.com/office/drawing/2014/main" id="{A7D63F17-9F61-4CB6-AA21-3C03A556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1C"/>
          </a:solidFill>
          <a:ln xmlns:a="http://schemas.openxmlformats.org/drawingml/2006/main" w="0">
            <a:solidFill>
              <a:srgbClr val="F0931C"/>
            </a:solidFill>
            <a:prstDash val="solid"/>
          </a:ln>
        </p:spPr>
      </p:sp>
      <p:sp>
        <p:nvSpPr>
          <p:cNvPr id="13" name="text-142">
            <a:extLst xmlns:a="http://schemas.openxmlformats.org/drawingml/2006/main">
              <a:ext uri="{FF2B5EF4-FFF2-40B4-BE49-F238E27FC236}">
                <a16:creationId xmlns:a16="http://schemas.microsoft.com/office/drawing/2014/main" id="{01A9297A-2AFD-4BA5-B0D5-50FBD20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E36A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FE36A"/>
                </a:solidFill>
                <a:latin typeface="Georgia"/>
                <a:ea typeface="Georgia"/>
                <a:cs typeface="Georgia"/>
              </a:rPr>
              <a:t>4.4 MB</a:t>
            </a:r>
          </a:p>
        </p:txBody>
      </p:sp>
      <p:sp>
        <p:nvSpPr>
          <p:cNvPr id="14" name="text-143">
            <a:extLst xmlns:a="http://schemas.openxmlformats.org/drawingml/2006/main">
              <a:ext uri="{FF2B5EF4-FFF2-40B4-BE49-F238E27FC236}">
                <a16:creationId xmlns:a16="http://schemas.microsoft.com/office/drawing/2014/main" id="{0F29A9E5-F9B5-4BF2-B666-64DBA77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ENGINE-ONLY ZIP</a:t>
            </a:r>
          </a:p>
        </p:txBody>
      </p:sp>
      <p:sp>
        <p:nvSpPr>
          <p:cNvPr id="15" name="text-144">
            <a:extLst xmlns:a="http://schemas.openxmlformats.org/drawingml/2006/main">
              <a:ext uri="{FF2B5EF4-FFF2-40B4-BE49-F238E27FC236}">
                <a16:creationId xmlns:a16="http://schemas.microsoft.com/office/drawing/2014/main" id="{1EA909D4-E645-4CA9-9A89-07DA6898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No original game assets are distributed.</a:t>
            </a:r>
          </a:p>
        </p:txBody>
      </p:sp>
      <p:sp>
        <p:nvSpPr>
          <p:cNvPr id="16" name="panel-145">
            <a:extLst xmlns:a="http://schemas.openxmlformats.org/drawingml/2006/main">
              <a:ext uri="{FF2B5EF4-FFF2-40B4-BE49-F238E27FC236}">
                <a16:creationId xmlns:a16="http://schemas.microsoft.com/office/drawing/2014/main" id="{C25E8020-A644-4F88-87BA-1E5A7B10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581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28575">
            <a:solidFill>
              <a:srgbClr val="C8660B"/>
            </a:solidFill>
            <a:prstDash val="solid"/>
          </a:ln>
        </p:spPr>
      </p:sp>
      <p:sp>
        <p:nvSpPr>
          <p:cNvPr id="17" name="rule-146">
            <a:extLst xmlns:a="http://schemas.openxmlformats.org/drawingml/2006/main">
              <a:ext uri="{FF2B5EF4-FFF2-40B4-BE49-F238E27FC236}">
                <a16:creationId xmlns:a16="http://schemas.microsoft.com/office/drawing/2014/main" id="{3805F3B5-1C40-429C-B27E-F7D94ED1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581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18" name="text-147">
            <a:extLst xmlns:a="http://schemas.openxmlformats.org/drawingml/2006/main">
              <a:ext uri="{FF2B5EF4-FFF2-40B4-BE49-F238E27FC236}">
                <a16:creationId xmlns:a16="http://schemas.microsoft.com/office/drawing/2014/main" id="{6AFA2A3B-6C72-4A24-95D1-2537D81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E36A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FE36A"/>
                </a:solidFill>
                <a:latin typeface="Georgia"/>
                <a:ea typeface="Georgia"/>
                <a:cs typeface="Georgia"/>
              </a:rPr>
              <a:t>SHA-256</a:t>
            </a:r>
          </a:p>
        </p:txBody>
      </p:sp>
      <p:sp>
        <p:nvSpPr>
          <p:cNvPr id="19" name="text-148">
            <a:extLst xmlns:a="http://schemas.openxmlformats.org/drawingml/2006/main">
              <a:ext uri="{FF2B5EF4-FFF2-40B4-BE49-F238E27FC236}">
                <a16:creationId xmlns:a16="http://schemas.microsoft.com/office/drawing/2014/main" id="{9840F4F6-8650-4F16-B070-DD62281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INTEGRITY VERIFIED</a:t>
            </a:r>
          </a:p>
        </p:txBody>
      </p:sp>
      <p:sp>
        <p:nvSpPr>
          <p:cNvPr id="20" name="text-149">
            <a:extLst xmlns:a="http://schemas.openxmlformats.org/drawingml/2006/main">
              <a:ext uri="{FF2B5EF4-FFF2-40B4-BE49-F238E27FC236}">
                <a16:creationId xmlns:a16="http://schemas.microsoft.com/office/drawing/2014/main" id="{CB60C1C9-94B2-4F58-9847-F6E28DC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0">
                <a:solidFill>
                  <a:srgbClr val="F4E7C5"/>
                </a:solidFill>
                <a:latin typeface="Bahnschrift"/>
                <a:ea typeface="Bahnschrift"/>
                <a:cs typeface="Bahnschrift"/>
              </a:rPr>
              <a:t>The live download matches the published checksum.</a:t>
            </a:r>
          </a:p>
        </p:txBody>
      </p:sp>
      <p:sp>
        <p:nvSpPr>
          <p:cNvPr id="21" name="text-150">
            <a:extLst xmlns:a="http://schemas.openxmlformats.org/drawingml/2006/main">
              <a:ext uri="{FF2B5EF4-FFF2-40B4-BE49-F238E27FC236}">
                <a16:creationId xmlns:a16="http://schemas.microsoft.com/office/drawing/2014/main" id="{C85EFC36-352D-45AF-9417-407AD22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E36A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 i="0">
                <a:solidFill>
                  <a:srgbClr val="FFE36A"/>
                </a:solidFill>
                <a:latin typeface="Bahnschrift"/>
                <a:ea typeface="Bahnschrift"/>
                <a:cs typeface="Bahnschrift"/>
              </a:rPr>
              <a:t>Users provide a legally owned Steam or GOG installation.</a:t>
            </a:r>
          </a:p>
        </p:txBody>
      </p:sp>
    </p:spTree>
    <p:extLst>
      <p:ext uri="{BB962C8B-B14F-4D97-AF65-F5344CB8AC3E}">
        <p14:creationId xmlns:p14="http://schemas.microsoft.com/office/powerpoint/2010/main" val="1340257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b2cda26f9431b"/>
          <a:srcRect xmlns:a="http://schemas.openxmlformats.org/drawingml/2006/main" l="30078" t="0" r="30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nel-152">
            <a:extLst xmlns:a="http://schemas.openxmlformats.org/drawingml/2006/main">
              <a:ext uri="{FF2B5EF4-FFF2-40B4-BE49-F238E27FC236}">
                <a16:creationId xmlns:a16="http://schemas.microsoft.com/office/drawing/2014/main" id="{662A9337-9E62-403D-9180-3A523E9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8"/>
          </a:solidFill>
          <a:ln xmlns:a="http://schemas.openxmlformats.org/drawingml/2006/main" w="0">
            <a:solidFill>
              <a:srgbClr val="070708"/>
            </a:solidFill>
            <a:prstDash val="solid"/>
          </a:ln>
        </p:spPr>
      </p:sp>
      <p:sp>
        <p:nvSpPr>
          <p:cNvPr id="3" name="rule-153">
            <a:extLst xmlns:a="http://schemas.openxmlformats.org/drawingml/2006/main">
              <a:ext uri="{FF2B5EF4-FFF2-40B4-BE49-F238E27FC236}">
                <a16:creationId xmlns:a16="http://schemas.microsoft.com/office/drawing/2014/main" id="{8DB01ED0-A561-4C2C-9D87-83FE28E7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6A"/>
          </a:solidFill>
          <a:ln xmlns:a="http://schemas.openxmlformats.org/drawingml/2006/main" w="0">
            <a:solidFill>
              <a:srgbClr val="FFE36A"/>
            </a:solidFill>
            <a:prstDash val="solid"/>
          </a:ln>
        </p:spPr>
      </p:sp>
      <p:sp>
        <p:nvSpPr>
          <p:cNvPr id="4" name="text-154">
            <a:extLst xmlns:a="http://schemas.openxmlformats.org/drawingml/2006/main">
              <a:ext uri="{FF2B5EF4-FFF2-40B4-BE49-F238E27FC236}">
                <a16:creationId xmlns:a16="http://schemas.microsoft.com/office/drawing/2014/main" id="{9A169129-F93A-456E-9D05-C6B6957E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0931C"/>
                </a:solidFill>
                <a:latin typeface="Georgia"/>
                <a:ea typeface="Georgia"/>
                <a:cs typeface="Georgia"/>
              </a:rPr>
              <a:t>OUTCOME</a:t>
            </a:r>
          </a:p>
        </p:txBody>
      </p:sp>
      <p:sp>
        <p:nvSpPr>
          <p:cNvPr id="5" name="closing-title-155">
            <a:extLst xmlns:a="http://schemas.openxmlformats.org/drawingml/2006/main">
              <a:ext uri="{FF2B5EF4-FFF2-40B4-BE49-F238E27FC236}">
                <a16:creationId xmlns:a16="http://schemas.microsoft.com/office/drawing/2014/main" id="{DD80A470-E4FD-4EAE-A50D-DC041C48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4E7C5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4E7C5"/>
                </a:solidFill>
                <a:latin typeface="Georgia"/>
                <a:ea typeface="Georgia"/>
                <a:cs typeface="Georgia"/>
              </a:rPr>
              <a:t>READY TO INSTALL -</a:t>
            </a:r>
          </a:p>
          <a:p xmlns:a="http://schemas.openxmlformats.org/drawingml/2006/main">
            <a:pPr algn="l">
              <a:defRPr sz="3750" b="1" i="0">
                <a:solidFill>
                  <a:srgbClr val="F4E7C5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4E7C5"/>
                </a:solidFill>
                <a:latin typeface="Georgia"/>
                <a:ea typeface="Georgia"/>
                <a:cs typeface="Georgia"/>
              </a:rPr>
              <a:t>NOT JUST READY TO COMPILE.</a:t>
            </a:r>
          </a:p>
        </p:txBody>
      </p:sp>
      <p:sp>
        <p:nvSpPr>
          <p:cNvPr id="6" name="text-156">
            <a:extLst xmlns:a="http://schemas.openxmlformats.org/drawingml/2006/main">
              <a:ext uri="{FF2B5EF4-FFF2-40B4-BE49-F238E27FC236}">
                <a16:creationId xmlns:a16="http://schemas.microsoft.com/office/drawing/2014/main" id="{7232B7F5-AC6E-486A-9DE3-D057AC1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 i="0">
                <a:solidFill>
                  <a:srgbClr val="B7B2A7"/>
                </a:solidFill>
                <a:latin typeface="Bahnschrift"/>
                <a:ea typeface="Bahnschrift"/>
                <a:cs typeface="Bahnschrift"/>
              </a:rPr>
              <a:t>Modern controls. Native borderless. Safer recovery. Public, rights-safe release.</a:t>
            </a:r>
          </a:p>
        </p:txBody>
      </p:sp>
      <p:sp>
        <p:nvSpPr>
          <p:cNvPr id="7" name="panel-157">
            <a:extLst xmlns:a="http://schemas.openxmlformats.org/drawingml/2006/main">
              <a:ext uri="{FF2B5EF4-FFF2-40B4-BE49-F238E27FC236}">
                <a16:creationId xmlns:a16="http://schemas.microsoft.com/office/drawing/2014/main" id="{94BB18B4-0ADF-4AF3-856B-DE6CC7A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619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19050">
            <a:solidFill>
              <a:srgbClr val="76501D"/>
            </a:solidFill>
            <a:prstDash val="solid"/>
          </a:ln>
        </p:spPr>
      </p:sp>
      <p:sp>
        <p:nvSpPr>
          <p:cNvPr id="8" name="text-158">
            <a:extLst xmlns:a="http://schemas.openxmlformats.org/drawingml/2006/main">
              <a:ext uri="{FF2B5EF4-FFF2-40B4-BE49-F238E27FC236}">
                <a16:creationId xmlns:a16="http://schemas.microsoft.com/office/drawing/2014/main" id="{5A475A66-D96D-443F-8942-655A3764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E36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FFE36A"/>
                </a:solidFill>
                <a:latin typeface="Bahnschrift"/>
                <a:ea typeface="Bahnschrift"/>
                <a:cs typeface="Bahnschrift"/>
              </a:rPr>
              <a:t>georgekaragioules.com/openjkdf2-enhanced</a:t>
            </a:r>
          </a:p>
        </p:txBody>
      </p:sp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7F544024-632E-4EC7-B8BD-59B4C68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573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F0931C"/>
                </a:solidFill>
                <a:latin typeface="Bahnschrift"/>
                <a:ea typeface="Bahnschrift"/>
                <a:cs typeface="Bahnschrift"/>
              </a:rPr>
              <a:t>github.com/gkaragioul/OpenJKDF2-AMD-Enhanced</a:t>
            </a:r>
          </a:p>
        </p:txBody>
      </p:sp>
    </p:spTree>
    <p:extLst>
      <p:ext uri="{BB962C8B-B14F-4D97-AF65-F5344CB8AC3E}">
        <p14:creationId xmlns:p14="http://schemas.microsoft.com/office/powerpoint/2010/main" val="460892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2026-07-16T20:28:18.6230000Z</dcterms:created>
  <dcterms:modified xsi:type="dcterms:W3CDTF">2026-07-16T20:28:18.6230000Z</dcterms:modified>
</coreProperties>
</file>